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6"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SN"/>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E568D-3B69-4423-A223-C0722B240970}" type="datetimeFigureOut">
              <a:rPr lang="fr-SN" smtClean="0"/>
              <a:t>24/05/2025</a:t>
            </a:fld>
            <a:endParaRPr lang="fr-SN"/>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SN"/>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SN"/>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9A22A-D773-4913-831D-AB212374F5D2}" type="slidenum">
              <a:rPr lang="fr-SN" smtClean="0"/>
              <a:t>‹N°›</a:t>
            </a:fld>
            <a:endParaRPr lang="fr-SN"/>
          </a:p>
        </p:txBody>
      </p:sp>
    </p:spTree>
    <p:extLst>
      <p:ext uri="{BB962C8B-B14F-4D97-AF65-F5344CB8AC3E}">
        <p14:creationId xmlns:p14="http://schemas.microsoft.com/office/powerpoint/2010/main" val="3371639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C0F31F-7FFD-41BF-B28B-60E27B08F08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SN"/>
          </a:p>
        </p:txBody>
      </p:sp>
      <p:sp>
        <p:nvSpPr>
          <p:cNvPr id="3" name="Sous-titre 2">
            <a:extLst>
              <a:ext uri="{FF2B5EF4-FFF2-40B4-BE49-F238E27FC236}">
                <a16:creationId xmlns:a16="http://schemas.microsoft.com/office/drawing/2014/main" id="{DF4A2E82-6584-4CAE-B682-1F8F9DBFFD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SN"/>
          </a:p>
        </p:txBody>
      </p:sp>
      <p:sp>
        <p:nvSpPr>
          <p:cNvPr id="4" name="Espace réservé de la date 3">
            <a:extLst>
              <a:ext uri="{FF2B5EF4-FFF2-40B4-BE49-F238E27FC236}">
                <a16:creationId xmlns:a16="http://schemas.microsoft.com/office/drawing/2014/main" id="{9182488F-E63E-4F9E-9A21-9CA666DF2DB7}"/>
              </a:ext>
            </a:extLst>
          </p:cNvPr>
          <p:cNvSpPr>
            <a:spLocks noGrp="1"/>
          </p:cNvSpPr>
          <p:nvPr>
            <p:ph type="dt" sz="half" idx="10"/>
          </p:nvPr>
        </p:nvSpPr>
        <p:spPr/>
        <p:txBody>
          <a:bodyPr/>
          <a:lstStyle/>
          <a:p>
            <a:fld id="{84880061-8177-4828-B680-7AAFC05619F0}" type="datetime1">
              <a:rPr lang="fr-SN" smtClean="0"/>
              <a:t>24/05/2025</a:t>
            </a:fld>
            <a:endParaRPr lang="fr-SN"/>
          </a:p>
        </p:txBody>
      </p:sp>
      <p:sp>
        <p:nvSpPr>
          <p:cNvPr id="5" name="Espace réservé du pied de page 4">
            <a:extLst>
              <a:ext uri="{FF2B5EF4-FFF2-40B4-BE49-F238E27FC236}">
                <a16:creationId xmlns:a16="http://schemas.microsoft.com/office/drawing/2014/main" id="{C3C99CCC-B1D6-4EF4-99FB-33D3575153B6}"/>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71445D17-5DF6-4B18-AC09-4A153F33A660}"/>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2693664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9F4AA-CE71-480B-BDEA-84F0AC3AD470}"/>
              </a:ext>
            </a:extLst>
          </p:cNvPr>
          <p:cNvSpPr>
            <a:spLocks noGrp="1"/>
          </p:cNvSpPr>
          <p:nvPr>
            <p:ph type="title"/>
          </p:nvPr>
        </p:nvSpPr>
        <p:spPr/>
        <p:txBody>
          <a:bodyPr/>
          <a:lstStyle/>
          <a:p>
            <a:r>
              <a:rPr lang="fr-FR"/>
              <a:t>Modifiez le style du titre</a:t>
            </a:r>
            <a:endParaRPr lang="fr-SN"/>
          </a:p>
        </p:txBody>
      </p:sp>
      <p:sp>
        <p:nvSpPr>
          <p:cNvPr id="3" name="Espace réservé du contenu 2">
            <a:extLst>
              <a:ext uri="{FF2B5EF4-FFF2-40B4-BE49-F238E27FC236}">
                <a16:creationId xmlns:a16="http://schemas.microsoft.com/office/drawing/2014/main" id="{CFF3B285-8006-4C3B-8425-01267838B4F2}"/>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A8804051-12D3-41D8-9E28-7DB0C01E43DA}"/>
              </a:ext>
            </a:extLst>
          </p:cNvPr>
          <p:cNvSpPr>
            <a:spLocks noGrp="1"/>
          </p:cNvSpPr>
          <p:nvPr>
            <p:ph type="dt" sz="half" idx="10"/>
          </p:nvPr>
        </p:nvSpPr>
        <p:spPr/>
        <p:txBody>
          <a:bodyPr/>
          <a:lstStyle/>
          <a:p>
            <a:fld id="{24F0D3AE-892C-4520-8580-94C2647D9FE5}" type="datetime1">
              <a:rPr lang="fr-SN" smtClean="0"/>
              <a:t>24/05/2025</a:t>
            </a:fld>
            <a:endParaRPr lang="fr-SN"/>
          </a:p>
        </p:txBody>
      </p:sp>
      <p:sp>
        <p:nvSpPr>
          <p:cNvPr id="5" name="Espace réservé du pied de page 4">
            <a:extLst>
              <a:ext uri="{FF2B5EF4-FFF2-40B4-BE49-F238E27FC236}">
                <a16:creationId xmlns:a16="http://schemas.microsoft.com/office/drawing/2014/main" id="{C7F94064-88DA-4736-8C14-810081A00469}"/>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AE68D253-EC5D-4F1E-8873-11A287EED12F}"/>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1265351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5219A4-13AB-4196-8D22-DDFA43FD3C8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SN"/>
          </a:p>
        </p:txBody>
      </p:sp>
      <p:sp>
        <p:nvSpPr>
          <p:cNvPr id="3" name="Espace réservé du texte 2">
            <a:extLst>
              <a:ext uri="{FF2B5EF4-FFF2-40B4-BE49-F238E27FC236}">
                <a16:creationId xmlns:a16="http://schemas.microsoft.com/office/drawing/2014/main" id="{1EE1AF24-3122-44E7-917B-9AFF8C5FDD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5F74B28C-7C7B-4AA5-A2F3-2F3F715BACD8}"/>
              </a:ext>
            </a:extLst>
          </p:cNvPr>
          <p:cNvSpPr>
            <a:spLocks noGrp="1"/>
          </p:cNvSpPr>
          <p:nvPr>
            <p:ph type="dt" sz="half" idx="10"/>
          </p:nvPr>
        </p:nvSpPr>
        <p:spPr/>
        <p:txBody>
          <a:bodyPr/>
          <a:lstStyle/>
          <a:p>
            <a:fld id="{3E7623FB-873B-49CF-A2DD-B0779C5BC2BE}" type="datetime1">
              <a:rPr lang="fr-SN" smtClean="0"/>
              <a:t>24/05/2025</a:t>
            </a:fld>
            <a:endParaRPr lang="fr-SN"/>
          </a:p>
        </p:txBody>
      </p:sp>
      <p:sp>
        <p:nvSpPr>
          <p:cNvPr id="5" name="Espace réservé du pied de page 4">
            <a:extLst>
              <a:ext uri="{FF2B5EF4-FFF2-40B4-BE49-F238E27FC236}">
                <a16:creationId xmlns:a16="http://schemas.microsoft.com/office/drawing/2014/main" id="{6AF6CA77-9D8A-4DBA-824D-1CA602F15400}"/>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3136F5E6-7FA7-41FE-AAE2-D13769A62C75}"/>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3638274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28C5E8-5DB3-4C9A-A8DE-03B6CA97D75C}"/>
              </a:ext>
            </a:extLst>
          </p:cNvPr>
          <p:cNvSpPr>
            <a:spLocks noGrp="1"/>
          </p:cNvSpPr>
          <p:nvPr>
            <p:ph type="title"/>
          </p:nvPr>
        </p:nvSpPr>
        <p:spPr/>
        <p:txBody>
          <a:bodyPr/>
          <a:lstStyle/>
          <a:p>
            <a:r>
              <a:rPr lang="fr-FR"/>
              <a:t>Modifiez le style du titre</a:t>
            </a:r>
            <a:endParaRPr lang="fr-SN"/>
          </a:p>
        </p:txBody>
      </p:sp>
      <p:sp>
        <p:nvSpPr>
          <p:cNvPr id="3" name="Espace réservé du contenu 2">
            <a:extLst>
              <a:ext uri="{FF2B5EF4-FFF2-40B4-BE49-F238E27FC236}">
                <a16:creationId xmlns:a16="http://schemas.microsoft.com/office/drawing/2014/main" id="{E460A1DD-5BB9-44F0-9754-0FF790DEAEED}"/>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u contenu 3">
            <a:extLst>
              <a:ext uri="{FF2B5EF4-FFF2-40B4-BE49-F238E27FC236}">
                <a16:creationId xmlns:a16="http://schemas.microsoft.com/office/drawing/2014/main" id="{EC10ABDF-C8A8-4D87-B2FD-AEBA82A4F7E0}"/>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5" name="Espace réservé de la date 4">
            <a:extLst>
              <a:ext uri="{FF2B5EF4-FFF2-40B4-BE49-F238E27FC236}">
                <a16:creationId xmlns:a16="http://schemas.microsoft.com/office/drawing/2014/main" id="{BDC5F680-CB80-40DD-BBAD-53768CC04A15}"/>
              </a:ext>
            </a:extLst>
          </p:cNvPr>
          <p:cNvSpPr>
            <a:spLocks noGrp="1"/>
          </p:cNvSpPr>
          <p:nvPr>
            <p:ph type="dt" sz="half" idx="10"/>
          </p:nvPr>
        </p:nvSpPr>
        <p:spPr/>
        <p:txBody>
          <a:bodyPr/>
          <a:lstStyle/>
          <a:p>
            <a:fld id="{519DAB72-4D71-486F-AAA8-9D6A9244D408}" type="datetime1">
              <a:rPr lang="fr-SN" smtClean="0"/>
              <a:t>24/05/2025</a:t>
            </a:fld>
            <a:endParaRPr lang="fr-SN"/>
          </a:p>
        </p:txBody>
      </p:sp>
      <p:sp>
        <p:nvSpPr>
          <p:cNvPr id="6" name="Espace réservé du pied de page 5">
            <a:extLst>
              <a:ext uri="{FF2B5EF4-FFF2-40B4-BE49-F238E27FC236}">
                <a16:creationId xmlns:a16="http://schemas.microsoft.com/office/drawing/2014/main" id="{C6E22164-8F6B-40AB-9A3B-C35D5B529B64}"/>
              </a:ext>
            </a:extLst>
          </p:cNvPr>
          <p:cNvSpPr>
            <a:spLocks noGrp="1"/>
          </p:cNvSpPr>
          <p:nvPr>
            <p:ph type="ftr" sz="quarter" idx="11"/>
          </p:nvPr>
        </p:nvSpPr>
        <p:spPr/>
        <p:txBody>
          <a:bodyPr/>
          <a:lstStyle/>
          <a:p>
            <a:endParaRPr lang="fr-SN"/>
          </a:p>
        </p:txBody>
      </p:sp>
      <p:sp>
        <p:nvSpPr>
          <p:cNvPr id="7" name="Espace réservé du numéro de diapositive 6">
            <a:extLst>
              <a:ext uri="{FF2B5EF4-FFF2-40B4-BE49-F238E27FC236}">
                <a16:creationId xmlns:a16="http://schemas.microsoft.com/office/drawing/2014/main" id="{9189AF99-BD03-43E7-9C27-496146AFB07B}"/>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3622588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05458C-C09F-4196-BF9F-917F5BC34159}"/>
              </a:ext>
            </a:extLst>
          </p:cNvPr>
          <p:cNvSpPr>
            <a:spLocks noGrp="1"/>
          </p:cNvSpPr>
          <p:nvPr>
            <p:ph type="title"/>
          </p:nvPr>
        </p:nvSpPr>
        <p:spPr>
          <a:xfrm>
            <a:off x="839788" y="365125"/>
            <a:ext cx="10515600" cy="1325563"/>
          </a:xfrm>
        </p:spPr>
        <p:txBody>
          <a:bodyPr/>
          <a:lstStyle/>
          <a:p>
            <a:r>
              <a:rPr lang="fr-FR"/>
              <a:t>Modifiez le style du titre</a:t>
            </a:r>
            <a:endParaRPr lang="fr-SN"/>
          </a:p>
        </p:txBody>
      </p:sp>
      <p:sp>
        <p:nvSpPr>
          <p:cNvPr id="3" name="Espace réservé du texte 2">
            <a:extLst>
              <a:ext uri="{FF2B5EF4-FFF2-40B4-BE49-F238E27FC236}">
                <a16:creationId xmlns:a16="http://schemas.microsoft.com/office/drawing/2014/main" id="{7B6E7B02-904D-49F7-9417-7839326C9A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B7E44CE1-067A-4309-A71E-7E4204CF3407}"/>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5" name="Espace réservé du texte 4">
            <a:extLst>
              <a:ext uri="{FF2B5EF4-FFF2-40B4-BE49-F238E27FC236}">
                <a16:creationId xmlns:a16="http://schemas.microsoft.com/office/drawing/2014/main" id="{C22BAC31-7598-43B6-A154-1DFAFCA7E1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230037E8-E893-46D6-9200-2F592A37BE3D}"/>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7" name="Espace réservé de la date 6">
            <a:extLst>
              <a:ext uri="{FF2B5EF4-FFF2-40B4-BE49-F238E27FC236}">
                <a16:creationId xmlns:a16="http://schemas.microsoft.com/office/drawing/2014/main" id="{1DBD090D-4637-4BAD-B5F4-450352DE20D9}"/>
              </a:ext>
            </a:extLst>
          </p:cNvPr>
          <p:cNvSpPr>
            <a:spLocks noGrp="1"/>
          </p:cNvSpPr>
          <p:nvPr>
            <p:ph type="dt" sz="half" idx="10"/>
          </p:nvPr>
        </p:nvSpPr>
        <p:spPr/>
        <p:txBody>
          <a:bodyPr/>
          <a:lstStyle/>
          <a:p>
            <a:fld id="{1D2DCFC2-78FF-450A-97E5-7B990D2B6D96}" type="datetime1">
              <a:rPr lang="fr-SN" smtClean="0"/>
              <a:t>24/05/2025</a:t>
            </a:fld>
            <a:endParaRPr lang="fr-SN"/>
          </a:p>
        </p:txBody>
      </p:sp>
      <p:sp>
        <p:nvSpPr>
          <p:cNvPr id="8" name="Espace réservé du pied de page 7">
            <a:extLst>
              <a:ext uri="{FF2B5EF4-FFF2-40B4-BE49-F238E27FC236}">
                <a16:creationId xmlns:a16="http://schemas.microsoft.com/office/drawing/2014/main" id="{81BE2DFD-3B87-43D8-9011-849201F09AC9}"/>
              </a:ext>
            </a:extLst>
          </p:cNvPr>
          <p:cNvSpPr>
            <a:spLocks noGrp="1"/>
          </p:cNvSpPr>
          <p:nvPr>
            <p:ph type="ftr" sz="quarter" idx="11"/>
          </p:nvPr>
        </p:nvSpPr>
        <p:spPr/>
        <p:txBody>
          <a:bodyPr/>
          <a:lstStyle/>
          <a:p>
            <a:endParaRPr lang="fr-SN"/>
          </a:p>
        </p:txBody>
      </p:sp>
      <p:sp>
        <p:nvSpPr>
          <p:cNvPr id="9" name="Espace réservé du numéro de diapositive 8">
            <a:extLst>
              <a:ext uri="{FF2B5EF4-FFF2-40B4-BE49-F238E27FC236}">
                <a16:creationId xmlns:a16="http://schemas.microsoft.com/office/drawing/2014/main" id="{5460AB55-2A3A-4FDE-BA41-F4373093A071}"/>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3715309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9B1BC4-F84F-4BE2-BE3D-7448D49206E0}"/>
              </a:ext>
            </a:extLst>
          </p:cNvPr>
          <p:cNvSpPr>
            <a:spLocks noGrp="1"/>
          </p:cNvSpPr>
          <p:nvPr>
            <p:ph type="title"/>
          </p:nvPr>
        </p:nvSpPr>
        <p:spPr/>
        <p:txBody>
          <a:bodyPr/>
          <a:lstStyle/>
          <a:p>
            <a:r>
              <a:rPr lang="fr-FR"/>
              <a:t>Modifiez le style du titre</a:t>
            </a:r>
            <a:endParaRPr lang="fr-SN"/>
          </a:p>
        </p:txBody>
      </p:sp>
      <p:sp>
        <p:nvSpPr>
          <p:cNvPr id="3" name="Espace réservé de la date 2">
            <a:extLst>
              <a:ext uri="{FF2B5EF4-FFF2-40B4-BE49-F238E27FC236}">
                <a16:creationId xmlns:a16="http://schemas.microsoft.com/office/drawing/2014/main" id="{4974A5B6-E381-4401-BAF5-B4F90F55A64B}"/>
              </a:ext>
            </a:extLst>
          </p:cNvPr>
          <p:cNvSpPr>
            <a:spLocks noGrp="1"/>
          </p:cNvSpPr>
          <p:nvPr>
            <p:ph type="dt" sz="half" idx="10"/>
          </p:nvPr>
        </p:nvSpPr>
        <p:spPr/>
        <p:txBody>
          <a:bodyPr/>
          <a:lstStyle/>
          <a:p>
            <a:fld id="{CD55E1FB-CEF3-4DFC-B56F-94EB7B6ABE42}" type="datetime1">
              <a:rPr lang="fr-SN" smtClean="0"/>
              <a:t>24/05/2025</a:t>
            </a:fld>
            <a:endParaRPr lang="fr-SN"/>
          </a:p>
        </p:txBody>
      </p:sp>
      <p:sp>
        <p:nvSpPr>
          <p:cNvPr id="4" name="Espace réservé du pied de page 3">
            <a:extLst>
              <a:ext uri="{FF2B5EF4-FFF2-40B4-BE49-F238E27FC236}">
                <a16:creationId xmlns:a16="http://schemas.microsoft.com/office/drawing/2014/main" id="{B8381C13-271A-4C07-AABD-99E569FF64BC}"/>
              </a:ext>
            </a:extLst>
          </p:cNvPr>
          <p:cNvSpPr>
            <a:spLocks noGrp="1"/>
          </p:cNvSpPr>
          <p:nvPr>
            <p:ph type="ftr" sz="quarter" idx="11"/>
          </p:nvPr>
        </p:nvSpPr>
        <p:spPr/>
        <p:txBody>
          <a:bodyPr/>
          <a:lstStyle/>
          <a:p>
            <a:endParaRPr lang="fr-SN"/>
          </a:p>
        </p:txBody>
      </p:sp>
      <p:sp>
        <p:nvSpPr>
          <p:cNvPr id="5" name="Espace réservé du numéro de diapositive 4">
            <a:extLst>
              <a:ext uri="{FF2B5EF4-FFF2-40B4-BE49-F238E27FC236}">
                <a16:creationId xmlns:a16="http://schemas.microsoft.com/office/drawing/2014/main" id="{3F230ABE-8DD2-4004-ABF1-3146D39146F7}"/>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111135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1D31E2A-68E2-4D29-8507-4E4102206AF0}"/>
              </a:ext>
            </a:extLst>
          </p:cNvPr>
          <p:cNvSpPr>
            <a:spLocks noGrp="1"/>
          </p:cNvSpPr>
          <p:nvPr>
            <p:ph type="dt" sz="half" idx="10"/>
          </p:nvPr>
        </p:nvSpPr>
        <p:spPr/>
        <p:txBody>
          <a:bodyPr/>
          <a:lstStyle/>
          <a:p>
            <a:fld id="{AA7FDAE7-8396-4A2D-B5B7-6EC319CE52FC}" type="datetime1">
              <a:rPr lang="fr-SN" smtClean="0"/>
              <a:t>24/05/2025</a:t>
            </a:fld>
            <a:endParaRPr lang="fr-SN"/>
          </a:p>
        </p:txBody>
      </p:sp>
      <p:sp>
        <p:nvSpPr>
          <p:cNvPr id="3" name="Espace réservé du pied de page 2">
            <a:extLst>
              <a:ext uri="{FF2B5EF4-FFF2-40B4-BE49-F238E27FC236}">
                <a16:creationId xmlns:a16="http://schemas.microsoft.com/office/drawing/2014/main" id="{AC5746D2-D90E-4CE1-8FE7-90E385E92A19}"/>
              </a:ext>
            </a:extLst>
          </p:cNvPr>
          <p:cNvSpPr>
            <a:spLocks noGrp="1"/>
          </p:cNvSpPr>
          <p:nvPr>
            <p:ph type="ftr" sz="quarter" idx="11"/>
          </p:nvPr>
        </p:nvSpPr>
        <p:spPr/>
        <p:txBody>
          <a:bodyPr/>
          <a:lstStyle/>
          <a:p>
            <a:endParaRPr lang="fr-SN"/>
          </a:p>
        </p:txBody>
      </p:sp>
      <p:sp>
        <p:nvSpPr>
          <p:cNvPr id="4" name="Espace réservé du numéro de diapositive 3">
            <a:extLst>
              <a:ext uri="{FF2B5EF4-FFF2-40B4-BE49-F238E27FC236}">
                <a16:creationId xmlns:a16="http://schemas.microsoft.com/office/drawing/2014/main" id="{F837B57C-208D-4721-B186-006932D86F6E}"/>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79812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AA6BD6-BA5A-481E-88E4-0877D436964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SN"/>
          </a:p>
        </p:txBody>
      </p:sp>
      <p:sp>
        <p:nvSpPr>
          <p:cNvPr id="3" name="Espace réservé du contenu 2">
            <a:extLst>
              <a:ext uri="{FF2B5EF4-FFF2-40B4-BE49-F238E27FC236}">
                <a16:creationId xmlns:a16="http://schemas.microsoft.com/office/drawing/2014/main" id="{D4B77FA8-E5DF-4D20-9CDB-685451F125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u texte 3">
            <a:extLst>
              <a:ext uri="{FF2B5EF4-FFF2-40B4-BE49-F238E27FC236}">
                <a16:creationId xmlns:a16="http://schemas.microsoft.com/office/drawing/2014/main" id="{C37FA241-FE25-4129-8292-4A7EDF83C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D3AA6AD4-3E17-46D9-A895-189EF80B110D}"/>
              </a:ext>
            </a:extLst>
          </p:cNvPr>
          <p:cNvSpPr>
            <a:spLocks noGrp="1"/>
          </p:cNvSpPr>
          <p:nvPr>
            <p:ph type="dt" sz="half" idx="10"/>
          </p:nvPr>
        </p:nvSpPr>
        <p:spPr/>
        <p:txBody>
          <a:bodyPr/>
          <a:lstStyle/>
          <a:p>
            <a:fld id="{5B247199-CD58-4563-9185-82564699B9DA}" type="datetime1">
              <a:rPr lang="fr-SN" smtClean="0"/>
              <a:t>24/05/2025</a:t>
            </a:fld>
            <a:endParaRPr lang="fr-SN"/>
          </a:p>
        </p:txBody>
      </p:sp>
      <p:sp>
        <p:nvSpPr>
          <p:cNvPr id="6" name="Espace réservé du pied de page 5">
            <a:extLst>
              <a:ext uri="{FF2B5EF4-FFF2-40B4-BE49-F238E27FC236}">
                <a16:creationId xmlns:a16="http://schemas.microsoft.com/office/drawing/2014/main" id="{574CA1A6-657A-4060-83E5-6564AD43E228}"/>
              </a:ext>
            </a:extLst>
          </p:cNvPr>
          <p:cNvSpPr>
            <a:spLocks noGrp="1"/>
          </p:cNvSpPr>
          <p:nvPr>
            <p:ph type="ftr" sz="quarter" idx="11"/>
          </p:nvPr>
        </p:nvSpPr>
        <p:spPr/>
        <p:txBody>
          <a:bodyPr/>
          <a:lstStyle/>
          <a:p>
            <a:endParaRPr lang="fr-SN"/>
          </a:p>
        </p:txBody>
      </p:sp>
      <p:sp>
        <p:nvSpPr>
          <p:cNvPr id="7" name="Espace réservé du numéro de diapositive 6">
            <a:extLst>
              <a:ext uri="{FF2B5EF4-FFF2-40B4-BE49-F238E27FC236}">
                <a16:creationId xmlns:a16="http://schemas.microsoft.com/office/drawing/2014/main" id="{FA747F36-6005-4F6C-AD1D-870F23D83D84}"/>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2761056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DC75F8-C73C-46B7-9CE5-6FE909EEA0D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SN"/>
          </a:p>
        </p:txBody>
      </p:sp>
      <p:sp>
        <p:nvSpPr>
          <p:cNvPr id="3" name="Espace réservé pour une image  2">
            <a:extLst>
              <a:ext uri="{FF2B5EF4-FFF2-40B4-BE49-F238E27FC236}">
                <a16:creationId xmlns:a16="http://schemas.microsoft.com/office/drawing/2014/main" id="{34846035-36D7-46EE-A87C-470FD04817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SN"/>
          </a:p>
        </p:txBody>
      </p:sp>
      <p:sp>
        <p:nvSpPr>
          <p:cNvPr id="4" name="Espace réservé du texte 3">
            <a:extLst>
              <a:ext uri="{FF2B5EF4-FFF2-40B4-BE49-F238E27FC236}">
                <a16:creationId xmlns:a16="http://schemas.microsoft.com/office/drawing/2014/main" id="{80BC8E24-1206-4560-8291-B0313BA904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97587EB8-18AE-4673-8692-8C26C6EB0990}"/>
              </a:ext>
            </a:extLst>
          </p:cNvPr>
          <p:cNvSpPr>
            <a:spLocks noGrp="1"/>
          </p:cNvSpPr>
          <p:nvPr>
            <p:ph type="dt" sz="half" idx="10"/>
          </p:nvPr>
        </p:nvSpPr>
        <p:spPr/>
        <p:txBody>
          <a:bodyPr/>
          <a:lstStyle/>
          <a:p>
            <a:fld id="{98B386B8-1D79-4F58-A060-F5DE2315BF67}" type="datetime1">
              <a:rPr lang="fr-SN" smtClean="0"/>
              <a:t>24/05/2025</a:t>
            </a:fld>
            <a:endParaRPr lang="fr-SN"/>
          </a:p>
        </p:txBody>
      </p:sp>
      <p:sp>
        <p:nvSpPr>
          <p:cNvPr id="6" name="Espace réservé du pied de page 5">
            <a:extLst>
              <a:ext uri="{FF2B5EF4-FFF2-40B4-BE49-F238E27FC236}">
                <a16:creationId xmlns:a16="http://schemas.microsoft.com/office/drawing/2014/main" id="{346C2460-E9CE-43BC-955A-7EC53888616A}"/>
              </a:ext>
            </a:extLst>
          </p:cNvPr>
          <p:cNvSpPr>
            <a:spLocks noGrp="1"/>
          </p:cNvSpPr>
          <p:nvPr>
            <p:ph type="ftr" sz="quarter" idx="11"/>
          </p:nvPr>
        </p:nvSpPr>
        <p:spPr/>
        <p:txBody>
          <a:bodyPr/>
          <a:lstStyle/>
          <a:p>
            <a:endParaRPr lang="fr-SN"/>
          </a:p>
        </p:txBody>
      </p:sp>
      <p:sp>
        <p:nvSpPr>
          <p:cNvPr id="7" name="Espace réservé du numéro de diapositive 6">
            <a:extLst>
              <a:ext uri="{FF2B5EF4-FFF2-40B4-BE49-F238E27FC236}">
                <a16:creationId xmlns:a16="http://schemas.microsoft.com/office/drawing/2014/main" id="{760FAD73-B39C-460F-9221-64E9482D200F}"/>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161997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B35C01-4A72-40B1-84B8-6C3696402F98}"/>
              </a:ext>
            </a:extLst>
          </p:cNvPr>
          <p:cNvSpPr>
            <a:spLocks noGrp="1"/>
          </p:cNvSpPr>
          <p:nvPr>
            <p:ph type="title"/>
          </p:nvPr>
        </p:nvSpPr>
        <p:spPr/>
        <p:txBody>
          <a:bodyPr/>
          <a:lstStyle/>
          <a:p>
            <a:r>
              <a:rPr lang="fr-FR"/>
              <a:t>Modifiez le style du titre</a:t>
            </a:r>
            <a:endParaRPr lang="fr-SN"/>
          </a:p>
        </p:txBody>
      </p:sp>
      <p:sp>
        <p:nvSpPr>
          <p:cNvPr id="3" name="Espace réservé du texte vertical 2">
            <a:extLst>
              <a:ext uri="{FF2B5EF4-FFF2-40B4-BE49-F238E27FC236}">
                <a16:creationId xmlns:a16="http://schemas.microsoft.com/office/drawing/2014/main" id="{0C1AEEF5-E547-4521-9F4D-097BF6A5C443}"/>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8616334F-84E7-48ED-81AC-E7F4E5E8936F}"/>
              </a:ext>
            </a:extLst>
          </p:cNvPr>
          <p:cNvSpPr>
            <a:spLocks noGrp="1"/>
          </p:cNvSpPr>
          <p:nvPr>
            <p:ph type="dt" sz="half" idx="10"/>
          </p:nvPr>
        </p:nvSpPr>
        <p:spPr/>
        <p:txBody>
          <a:bodyPr/>
          <a:lstStyle/>
          <a:p>
            <a:fld id="{FB0F4870-8A91-4F42-A6C0-2D44E0060650}" type="datetime1">
              <a:rPr lang="fr-SN" smtClean="0"/>
              <a:t>24/05/2025</a:t>
            </a:fld>
            <a:endParaRPr lang="fr-SN"/>
          </a:p>
        </p:txBody>
      </p:sp>
      <p:sp>
        <p:nvSpPr>
          <p:cNvPr id="5" name="Espace réservé du pied de page 4">
            <a:extLst>
              <a:ext uri="{FF2B5EF4-FFF2-40B4-BE49-F238E27FC236}">
                <a16:creationId xmlns:a16="http://schemas.microsoft.com/office/drawing/2014/main" id="{AD78D475-231D-4669-9D42-8F32642DB88C}"/>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40651E2E-F612-4D76-9A82-FE7541FAB5FF}"/>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1614503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649262B-617B-4731-8D59-73157AB93625}"/>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SN"/>
          </a:p>
        </p:txBody>
      </p:sp>
      <p:sp>
        <p:nvSpPr>
          <p:cNvPr id="3" name="Espace réservé du texte vertical 2">
            <a:extLst>
              <a:ext uri="{FF2B5EF4-FFF2-40B4-BE49-F238E27FC236}">
                <a16:creationId xmlns:a16="http://schemas.microsoft.com/office/drawing/2014/main" id="{EA9C07BE-4454-48DE-A237-71043B63269D}"/>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A7556326-BF62-4F20-BF3B-C639F4F33B75}"/>
              </a:ext>
            </a:extLst>
          </p:cNvPr>
          <p:cNvSpPr>
            <a:spLocks noGrp="1"/>
          </p:cNvSpPr>
          <p:nvPr>
            <p:ph type="dt" sz="half" idx="10"/>
          </p:nvPr>
        </p:nvSpPr>
        <p:spPr/>
        <p:txBody>
          <a:bodyPr/>
          <a:lstStyle/>
          <a:p>
            <a:fld id="{409A19B3-A5BA-4DF2-A332-253251E6D2D0}" type="datetime1">
              <a:rPr lang="fr-SN" smtClean="0"/>
              <a:t>24/05/2025</a:t>
            </a:fld>
            <a:endParaRPr lang="fr-SN"/>
          </a:p>
        </p:txBody>
      </p:sp>
      <p:sp>
        <p:nvSpPr>
          <p:cNvPr id="5" name="Espace réservé du pied de page 4">
            <a:extLst>
              <a:ext uri="{FF2B5EF4-FFF2-40B4-BE49-F238E27FC236}">
                <a16:creationId xmlns:a16="http://schemas.microsoft.com/office/drawing/2014/main" id="{1501DEA8-14F2-446B-952C-64316BDB0057}"/>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2E37D3D1-E2FF-41CC-9A49-A21E588DA69B}"/>
              </a:ext>
            </a:extLst>
          </p:cNvPr>
          <p:cNvSpPr>
            <a:spLocks noGrp="1"/>
          </p:cNvSpPr>
          <p:nvPr>
            <p:ph type="sldNum" sz="quarter" idx="12"/>
          </p:nvPr>
        </p:nvSpPr>
        <p:spPr/>
        <p:txBody>
          <a:bodyPr/>
          <a:lstStyle/>
          <a:p>
            <a:fld id="{B6CC0D5F-9096-46B0-8727-60E08472EB90}" type="slidenum">
              <a:rPr lang="fr-SN" smtClean="0"/>
              <a:t>‹N°›</a:t>
            </a:fld>
            <a:endParaRPr lang="fr-SN"/>
          </a:p>
        </p:txBody>
      </p:sp>
    </p:spTree>
    <p:extLst>
      <p:ext uri="{BB962C8B-B14F-4D97-AF65-F5344CB8AC3E}">
        <p14:creationId xmlns:p14="http://schemas.microsoft.com/office/powerpoint/2010/main" val="26004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5125FE4-626D-47BE-ADC2-EE0A3D6E77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SN"/>
          </a:p>
        </p:txBody>
      </p:sp>
      <p:sp>
        <p:nvSpPr>
          <p:cNvPr id="3" name="Espace réservé du texte 2">
            <a:extLst>
              <a:ext uri="{FF2B5EF4-FFF2-40B4-BE49-F238E27FC236}">
                <a16:creationId xmlns:a16="http://schemas.microsoft.com/office/drawing/2014/main" id="{0567EBA5-C219-46E6-B0E9-8E2370F4E1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5330C09D-D37F-4040-B50D-49BD8A2FC5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1604D9-9D2A-4EC6-99A3-5D45C7DA7DD1}" type="datetime1">
              <a:rPr lang="fr-SN" smtClean="0"/>
              <a:t>24/05/2025</a:t>
            </a:fld>
            <a:endParaRPr lang="fr-SN"/>
          </a:p>
        </p:txBody>
      </p:sp>
      <p:sp>
        <p:nvSpPr>
          <p:cNvPr id="5" name="Espace réservé du pied de page 4">
            <a:extLst>
              <a:ext uri="{FF2B5EF4-FFF2-40B4-BE49-F238E27FC236}">
                <a16:creationId xmlns:a16="http://schemas.microsoft.com/office/drawing/2014/main" id="{FD73A360-FF83-4041-8203-5B048C8684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SN"/>
          </a:p>
        </p:txBody>
      </p:sp>
      <p:sp>
        <p:nvSpPr>
          <p:cNvPr id="6" name="Espace réservé du numéro de diapositive 5">
            <a:extLst>
              <a:ext uri="{FF2B5EF4-FFF2-40B4-BE49-F238E27FC236}">
                <a16:creationId xmlns:a16="http://schemas.microsoft.com/office/drawing/2014/main" id="{09B91E14-2ECC-4B37-96A9-BF7186C0D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CC0D5F-9096-46B0-8727-60E08472EB90}" type="slidenum">
              <a:rPr lang="fr-SN" smtClean="0"/>
              <a:t>‹N°›</a:t>
            </a:fld>
            <a:endParaRPr lang="fr-SN"/>
          </a:p>
        </p:txBody>
      </p:sp>
    </p:spTree>
    <p:extLst>
      <p:ext uri="{BB962C8B-B14F-4D97-AF65-F5344CB8AC3E}">
        <p14:creationId xmlns:p14="http://schemas.microsoft.com/office/powerpoint/2010/main" val="2099871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5CE4BF-B8FD-4A8A-A8B2-69489A68B8CA}"/>
              </a:ext>
            </a:extLst>
          </p:cNvPr>
          <p:cNvSpPr>
            <a:spLocks noGrp="1"/>
          </p:cNvSpPr>
          <p:nvPr>
            <p:ph type="ctrTitle"/>
          </p:nvPr>
        </p:nvSpPr>
        <p:spPr/>
        <p:txBody>
          <a:bodyPr>
            <a:normAutofit fontScale="90000"/>
          </a:bodyPr>
          <a:lstStyle/>
          <a:p>
            <a:br>
              <a:rPr lang="fr-FR" dirty="0"/>
            </a:br>
            <a:br>
              <a:rPr lang="fr-FR" dirty="0"/>
            </a:br>
            <a:br>
              <a:rPr lang="fr-FR" dirty="0"/>
            </a:br>
            <a:endParaRPr lang="fr-SN" dirty="0"/>
          </a:p>
        </p:txBody>
      </p:sp>
      <p:sp>
        <p:nvSpPr>
          <p:cNvPr id="4" name="Parchemin : horizontal 3">
            <a:extLst>
              <a:ext uri="{FF2B5EF4-FFF2-40B4-BE49-F238E27FC236}">
                <a16:creationId xmlns:a16="http://schemas.microsoft.com/office/drawing/2014/main" id="{BD3AC6F1-E61F-4926-AB4F-454FE017C376}"/>
              </a:ext>
            </a:extLst>
          </p:cNvPr>
          <p:cNvSpPr/>
          <p:nvPr/>
        </p:nvSpPr>
        <p:spPr>
          <a:xfrm>
            <a:off x="2007910" y="631595"/>
            <a:ext cx="7494309" cy="2387600"/>
          </a:xfrm>
          <a:prstGeom prst="horizontalScroll">
            <a:avLst/>
          </a:prstGeom>
          <a:ln w="28575"/>
        </p:spPr>
        <p:style>
          <a:lnRef idx="2">
            <a:schemeClr val="accent5"/>
          </a:lnRef>
          <a:fillRef idx="1">
            <a:schemeClr val="lt1"/>
          </a:fillRef>
          <a:effectRef idx="0">
            <a:schemeClr val="accent5"/>
          </a:effectRef>
          <a:fontRef idx="minor">
            <a:schemeClr val="dk1"/>
          </a:fontRef>
        </p:style>
        <p:txBody>
          <a:bodyPr rtlCol="0" anchor="ctr"/>
          <a:lstStyle/>
          <a:p>
            <a:pPr algn="ctr"/>
            <a:r>
              <a:rPr lang="fr-FR" sz="4400" b="1" dirty="0">
                <a:solidFill>
                  <a:schemeClr val="accent1"/>
                </a:solidFill>
              </a:rPr>
              <a:t>Chiffrement de </a:t>
            </a:r>
            <a:r>
              <a:rPr lang="fr-FR" sz="4400" b="1" dirty="0" err="1">
                <a:solidFill>
                  <a:schemeClr val="accent1"/>
                </a:solidFill>
              </a:rPr>
              <a:t>hill</a:t>
            </a:r>
            <a:endParaRPr lang="fr-SN" sz="4400" b="1" dirty="0">
              <a:solidFill>
                <a:schemeClr val="accent1"/>
              </a:solidFill>
            </a:endParaRPr>
          </a:p>
        </p:txBody>
      </p:sp>
      <p:sp>
        <p:nvSpPr>
          <p:cNvPr id="5" name="Rectangle : coins arrondis 4">
            <a:extLst>
              <a:ext uri="{FF2B5EF4-FFF2-40B4-BE49-F238E27FC236}">
                <a16:creationId xmlns:a16="http://schemas.microsoft.com/office/drawing/2014/main" id="{0CE12C94-621D-496F-B5F5-AA170AFF0EA5}"/>
              </a:ext>
            </a:extLst>
          </p:cNvPr>
          <p:cNvSpPr/>
          <p:nvPr/>
        </p:nvSpPr>
        <p:spPr>
          <a:xfrm>
            <a:off x="3049571" y="4000731"/>
            <a:ext cx="5410986" cy="16237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Ngouye</a:t>
            </a:r>
            <a:r>
              <a:rPr lang="fr-FR" dirty="0"/>
              <a:t> GNING</a:t>
            </a:r>
          </a:p>
          <a:p>
            <a:pPr algn="ctr"/>
            <a:r>
              <a:rPr lang="fr-FR" dirty="0"/>
              <a:t>Master 1 TDSI </a:t>
            </a:r>
            <a:r>
              <a:rPr lang="fr-FR" dirty="0" err="1"/>
              <a:t>mcs</a:t>
            </a:r>
            <a:endParaRPr lang="fr-SN" dirty="0"/>
          </a:p>
        </p:txBody>
      </p:sp>
      <p:sp>
        <p:nvSpPr>
          <p:cNvPr id="6" name="Espace réservé du numéro de diapositive 5">
            <a:extLst>
              <a:ext uri="{FF2B5EF4-FFF2-40B4-BE49-F238E27FC236}">
                <a16:creationId xmlns:a16="http://schemas.microsoft.com/office/drawing/2014/main" id="{5E4E3D9C-1C1D-4E25-8D3C-6C02A09D49EF}"/>
              </a:ext>
            </a:extLst>
          </p:cNvPr>
          <p:cNvSpPr>
            <a:spLocks noGrp="1"/>
          </p:cNvSpPr>
          <p:nvPr>
            <p:ph type="sldNum" sz="quarter" idx="12"/>
          </p:nvPr>
        </p:nvSpPr>
        <p:spPr/>
        <p:txBody>
          <a:bodyPr/>
          <a:lstStyle/>
          <a:p>
            <a:fld id="{B6CC0D5F-9096-46B0-8727-60E08472EB90}" type="slidenum">
              <a:rPr lang="fr-SN" smtClean="0"/>
              <a:t>1</a:t>
            </a:fld>
            <a:endParaRPr lang="fr-SN"/>
          </a:p>
        </p:txBody>
      </p:sp>
    </p:spTree>
    <p:extLst>
      <p:ext uri="{BB962C8B-B14F-4D97-AF65-F5344CB8AC3E}">
        <p14:creationId xmlns:p14="http://schemas.microsoft.com/office/powerpoint/2010/main" val="3769872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43D918D-B8F8-439B-95CF-AFFF21CDCBD4}"/>
              </a:ext>
            </a:extLst>
          </p:cNvPr>
          <p:cNvSpPr>
            <a:spLocks noGrp="1"/>
          </p:cNvSpPr>
          <p:nvPr>
            <p:ph idx="1"/>
          </p:nvPr>
        </p:nvSpPr>
        <p:spPr>
          <a:xfrm>
            <a:off x="3279742" y="1791862"/>
            <a:ext cx="6590122" cy="3274276"/>
          </a:xfrm>
        </p:spPr>
        <p:txBody>
          <a:bodyPr/>
          <a:lstStyle/>
          <a:p>
            <a:pPr marL="514350" indent="-514350">
              <a:buAutoNum type="arabicPeriod"/>
            </a:pPr>
            <a:r>
              <a:rPr lang="fr-SN" b="1" dirty="0">
                <a:solidFill>
                  <a:schemeClr val="accent1"/>
                </a:solidFill>
              </a:rPr>
              <a:t>Introduction</a:t>
            </a:r>
          </a:p>
          <a:p>
            <a:pPr marL="514350" indent="-514350">
              <a:buAutoNum type="arabicPeriod"/>
            </a:pPr>
            <a:r>
              <a:rPr lang="fr-SN" b="1" dirty="0">
                <a:solidFill>
                  <a:schemeClr val="accent1"/>
                </a:solidFill>
              </a:rPr>
              <a:t>Principe du chiffrement</a:t>
            </a:r>
          </a:p>
          <a:p>
            <a:pPr marL="514350" indent="-514350">
              <a:buAutoNum type="arabicPeriod"/>
            </a:pPr>
            <a:r>
              <a:rPr lang="fr-SN" b="1" dirty="0">
                <a:solidFill>
                  <a:schemeClr val="accent1"/>
                </a:solidFill>
              </a:rPr>
              <a:t>Déchiffrement</a:t>
            </a:r>
          </a:p>
          <a:p>
            <a:pPr marL="514350" indent="-514350">
              <a:buAutoNum type="arabicPeriod"/>
            </a:pPr>
            <a:r>
              <a:rPr lang="fr-SN" b="1" dirty="0">
                <a:solidFill>
                  <a:schemeClr val="accent1"/>
                </a:solidFill>
              </a:rPr>
              <a:t>Avantages et inconvénients</a:t>
            </a:r>
          </a:p>
          <a:p>
            <a:pPr marL="514350" indent="-514350">
              <a:buAutoNum type="arabicPeriod"/>
            </a:pPr>
            <a:r>
              <a:rPr lang="fr-SN" b="1" dirty="0">
                <a:solidFill>
                  <a:schemeClr val="accent1"/>
                </a:solidFill>
              </a:rPr>
              <a:t>Applications et histoire</a:t>
            </a:r>
          </a:p>
          <a:p>
            <a:pPr marL="514350" indent="-514350">
              <a:buAutoNum type="arabicPeriod"/>
            </a:pPr>
            <a:r>
              <a:rPr lang="fr-SN" b="1" dirty="0">
                <a:solidFill>
                  <a:schemeClr val="accent1"/>
                </a:solidFill>
              </a:rPr>
              <a:t>Conclusion</a:t>
            </a:r>
          </a:p>
          <a:p>
            <a:pPr marL="514350" indent="-514350">
              <a:buAutoNum type="arabicPeriod"/>
            </a:pPr>
            <a:endParaRPr lang="fr-SN" dirty="0"/>
          </a:p>
        </p:txBody>
      </p:sp>
      <p:sp>
        <p:nvSpPr>
          <p:cNvPr id="4" name="Espace réservé du numéro de diapositive 3">
            <a:extLst>
              <a:ext uri="{FF2B5EF4-FFF2-40B4-BE49-F238E27FC236}">
                <a16:creationId xmlns:a16="http://schemas.microsoft.com/office/drawing/2014/main" id="{8111A988-3C55-4FFA-8E7D-973B4BDB99E7}"/>
              </a:ext>
            </a:extLst>
          </p:cNvPr>
          <p:cNvSpPr>
            <a:spLocks noGrp="1"/>
          </p:cNvSpPr>
          <p:nvPr>
            <p:ph type="sldNum" sz="quarter" idx="12"/>
          </p:nvPr>
        </p:nvSpPr>
        <p:spPr/>
        <p:txBody>
          <a:bodyPr/>
          <a:lstStyle/>
          <a:p>
            <a:fld id="{B6CC0D5F-9096-46B0-8727-60E08472EB90}" type="slidenum">
              <a:rPr lang="fr-SN" smtClean="0"/>
              <a:t>2</a:t>
            </a:fld>
            <a:endParaRPr lang="fr-SN"/>
          </a:p>
        </p:txBody>
      </p:sp>
      <p:sp>
        <p:nvSpPr>
          <p:cNvPr id="5" name="Rectangle : coins arrondis 4">
            <a:extLst>
              <a:ext uri="{FF2B5EF4-FFF2-40B4-BE49-F238E27FC236}">
                <a16:creationId xmlns:a16="http://schemas.microsoft.com/office/drawing/2014/main" id="{EF623C1C-B5D2-4B42-80EB-2A4E2048CB19}"/>
              </a:ext>
            </a:extLst>
          </p:cNvPr>
          <p:cNvSpPr/>
          <p:nvPr/>
        </p:nvSpPr>
        <p:spPr>
          <a:xfrm>
            <a:off x="1791093" y="681037"/>
            <a:ext cx="8267307" cy="6858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PLAN</a:t>
            </a:r>
            <a:endParaRPr lang="fr-SN" dirty="0"/>
          </a:p>
        </p:txBody>
      </p:sp>
    </p:spTree>
    <p:extLst>
      <p:ext uri="{BB962C8B-B14F-4D97-AF65-F5344CB8AC3E}">
        <p14:creationId xmlns:p14="http://schemas.microsoft.com/office/powerpoint/2010/main" val="693600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771F9E-EB79-4E60-8995-3EE8D7A7BC20}"/>
              </a:ext>
            </a:extLst>
          </p:cNvPr>
          <p:cNvSpPr>
            <a:spLocks noGrp="1"/>
          </p:cNvSpPr>
          <p:nvPr>
            <p:ph type="title"/>
          </p:nvPr>
        </p:nvSpPr>
        <p:spPr/>
        <p:txBody>
          <a:bodyPr/>
          <a:lstStyle/>
          <a:p>
            <a:r>
              <a:rPr lang="fr-SN" dirty="0"/>
              <a:t>  </a:t>
            </a:r>
            <a:r>
              <a:rPr lang="fr-SN" b="1" dirty="0">
                <a:solidFill>
                  <a:schemeClr val="accent1"/>
                </a:solidFill>
              </a:rPr>
              <a:t>1. Introduction</a:t>
            </a:r>
          </a:p>
        </p:txBody>
      </p:sp>
      <p:sp>
        <p:nvSpPr>
          <p:cNvPr id="3" name="Espace réservé du contenu 2">
            <a:extLst>
              <a:ext uri="{FF2B5EF4-FFF2-40B4-BE49-F238E27FC236}">
                <a16:creationId xmlns:a16="http://schemas.microsoft.com/office/drawing/2014/main" id="{540E529D-7F05-4DF7-B3B7-2EB4AB2B7DCB}"/>
              </a:ext>
            </a:extLst>
          </p:cNvPr>
          <p:cNvSpPr>
            <a:spLocks noGrp="1"/>
          </p:cNvSpPr>
          <p:nvPr>
            <p:ph idx="1"/>
          </p:nvPr>
        </p:nvSpPr>
        <p:spPr/>
        <p:txBody>
          <a:bodyPr/>
          <a:lstStyle/>
          <a:p>
            <a:pPr marL="0" indent="0">
              <a:buNone/>
            </a:pPr>
            <a:endParaRPr lang="fr-FR" dirty="0"/>
          </a:p>
          <a:p>
            <a:pPr marL="0" indent="0">
              <a:buNone/>
            </a:pPr>
            <a:endParaRPr lang="fr-FR" dirty="0"/>
          </a:p>
          <a:p>
            <a:pPr marL="0" indent="0">
              <a:buNone/>
            </a:pPr>
            <a:r>
              <a:rPr lang="fr-FR" dirty="0"/>
              <a:t>Le chiffrement de Hill est un algorithme de chiffrement </a:t>
            </a:r>
            <a:r>
              <a:rPr lang="fr-FR" b="1" dirty="0"/>
              <a:t>symétrique</a:t>
            </a:r>
            <a:r>
              <a:rPr lang="fr-FR" dirty="0"/>
              <a:t> inventé par </a:t>
            </a:r>
            <a:r>
              <a:rPr lang="fr-FR" b="1" dirty="0"/>
              <a:t>Lester S. Hill</a:t>
            </a:r>
            <a:r>
              <a:rPr lang="fr-FR" dirty="0"/>
              <a:t> en 1929. Il repose sur l'</a:t>
            </a:r>
            <a:r>
              <a:rPr lang="fr-FR" b="1" dirty="0"/>
              <a:t>algèbre linéaire</a:t>
            </a:r>
            <a:r>
              <a:rPr lang="fr-FR" dirty="0"/>
              <a:t>, plus précisément sur les </a:t>
            </a:r>
            <a:r>
              <a:rPr lang="fr-FR" b="1" dirty="0"/>
              <a:t>matrices</a:t>
            </a:r>
            <a:r>
              <a:rPr lang="fr-FR" dirty="0"/>
              <a:t>, pour chiffrer et déchiffrer les messages. C’est un chiffrement par blocs, contrairement aux chiffrements </a:t>
            </a:r>
            <a:r>
              <a:rPr lang="fr-FR" dirty="0" err="1"/>
              <a:t>monoalphabétiques</a:t>
            </a:r>
            <a:r>
              <a:rPr lang="fr-FR" dirty="0"/>
              <a:t> comme César.</a:t>
            </a:r>
            <a:endParaRPr lang="fr-SN" dirty="0"/>
          </a:p>
        </p:txBody>
      </p:sp>
      <p:sp>
        <p:nvSpPr>
          <p:cNvPr id="4" name="Espace réservé du numéro de diapositive 3">
            <a:extLst>
              <a:ext uri="{FF2B5EF4-FFF2-40B4-BE49-F238E27FC236}">
                <a16:creationId xmlns:a16="http://schemas.microsoft.com/office/drawing/2014/main" id="{0810DE17-AD9D-4344-80CD-AC67341541DB}"/>
              </a:ext>
            </a:extLst>
          </p:cNvPr>
          <p:cNvSpPr>
            <a:spLocks noGrp="1"/>
          </p:cNvSpPr>
          <p:nvPr>
            <p:ph type="sldNum" sz="quarter" idx="12"/>
          </p:nvPr>
        </p:nvSpPr>
        <p:spPr/>
        <p:txBody>
          <a:bodyPr/>
          <a:lstStyle/>
          <a:p>
            <a:fld id="{B6CC0D5F-9096-46B0-8727-60E08472EB90}" type="slidenum">
              <a:rPr lang="fr-SN" smtClean="0"/>
              <a:t>3</a:t>
            </a:fld>
            <a:endParaRPr lang="fr-SN"/>
          </a:p>
        </p:txBody>
      </p:sp>
    </p:spTree>
    <p:extLst>
      <p:ext uri="{BB962C8B-B14F-4D97-AF65-F5344CB8AC3E}">
        <p14:creationId xmlns:p14="http://schemas.microsoft.com/office/powerpoint/2010/main" val="328323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8D40CF-19AD-4215-9030-7854A79C8A76}"/>
              </a:ext>
            </a:extLst>
          </p:cNvPr>
          <p:cNvSpPr>
            <a:spLocks noGrp="1"/>
          </p:cNvSpPr>
          <p:nvPr>
            <p:ph type="title"/>
          </p:nvPr>
        </p:nvSpPr>
        <p:spPr/>
        <p:txBody>
          <a:bodyPr/>
          <a:lstStyle/>
          <a:p>
            <a:r>
              <a:rPr lang="fr-SN" b="1" dirty="0">
                <a:solidFill>
                  <a:schemeClr val="accent1"/>
                </a:solidFill>
              </a:rPr>
              <a:t>2. Principe du chiffrement</a:t>
            </a:r>
          </a:p>
        </p:txBody>
      </p:sp>
      <p:sp>
        <p:nvSpPr>
          <p:cNvPr id="3" name="Espace réservé du contenu 2">
            <a:extLst>
              <a:ext uri="{FF2B5EF4-FFF2-40B4-BE49-F238E27FC236}">
                <a16:creationId xmlns:a16="http://schemas.microsoft.com/office/drawing/2014/main" id="{36B9AFB3-3A61-4633-B728-D43F16184DA9}"/>
              </a:ext>
            </a:extLst>
          </p:cNvPr>
          <p:cNvSpPr>
            <a:spLocks noGrp="1"/>
          </p:cNvSpPr>
          <p:nvPr>
            <p:ph idx="1"/>
          </p:nvPr>
        </p:nvSpPr>
        <p:spPr/>
        <p:txBody>
          <a:bodyPr>
            <a:normAutofit lnSpcReduction="10000"/>
          </a:bodyPr>
          <a:lstStyle/>
          <a:p>
            <a:pPr marL="0" indent="0">
              <a:buNone/>
            </a:pPr>
            <a:r>
              <a:rPr lang="fr-FR" b="1" dirty="0"/>
              <a:t>a. Encodage des lettres</a:t>
            </a:r>
          </a:p>
          <a:p>
            <a:r>
              <a:rPr lang="fr-FR" dirty="0"/>
              <a:t>Chaque lettre est associée à un nombre : A = 0, B = 1, ..., Z = 25.</a:t>
            </a:r>
          </a:p>
          <a:p>
            <a:pPr marL="0" indent="0">
              <a:buNone/>
            </a:pPr>
            <a:r>
              <a:rPr lang="fr-FR" b="1" dirty="0"/>
              <a:t>b. Bloc de texte</a:t>
            </a:r>
          </a:p>
          <a:p>
            <a:r>
              <a:rPr lang="fr-FR" dirty="0"/>
              <a:t>Le texte clair est découpé en </a:t>
            </a:r>
            <a:r>
              <a:rPr lang="fr-FR" b="1" dirty="0"/>
              <a:t>blocs de taille n</a:t>
            </a:r>
            <a:r>
              <a:rPr lang="fr-FR" dirty="0"/>
              <a:t>, où </a:t>
            </a:r>
            <a:r>
              <a:rPr lang="fr-FR" b="1" dirty="0"/>
              <a:t>n</a:t>
            </a:r>
            <a:r>
              <a:rPr lang="fr-FR" dirty="0"/>
              <a:t> est l'ordre de la matrice de chiffrement.</a:t>
            </a:r>
          </a:p>
          <a:p>
            <a:pPr marL="0" indent="0">
              <a:buNone/>
            </a:pPr>
            <a:r>
              <a:rPr lang="fr-FR" b="1" dirty="0"/>
              <a:t>c. Matrice de chiffrement</a:t>
            </a:r>
          </a:p>
          <a:p>
            <a:r>
              <a:rPr lang="fr-FR" dirty="0"/>
              <a:t>On choisit une </a:t>
            </a:r>
            <a:r>
              <a:rPr lang="fr-FR" b="1" dirty="0"/>
              <a:t>matrice carrée n× n</a:t>
            </a:r>
            <a:r>
              <a:rPr lang="fr-FR" dirty="0"/>
              <a:t> avec des coefficients dans Z26​ (modulo 26).</a:t>
            </a:r>
          </a:p>
          <a:p>
            <a:r>
              <a:rPr lang="fr-FR" dirty="0"/>
              <a:t>Le message est représenté sous forme de </a:t>
            </a:r>
            <a:r>
              <a:rPr lang="fr-FR" b="1" dirty="0"/>
              <a:t>vecteur colonne</a:t>
            </a:r>
            <a:r>
              <a:rPr lang="fr-FR" dirty="0"/>
              <a:t>, puis multiplié par la matrice :</a:t>
            </a:r>
          </a:p>
          <a:p>
            <a:pPr marL="0" indent="0">
              <a:buNone/>
            </a:pPr>
            <a:endParaRPr lang="fr-SN" dirty="0"/>
          </a:p>
        </p:txBody>
      </p:sp>
      <p:sp>
        <p:nvSpPr>
          <p:cNvPr id="4" name="Espace réservé du numéro de diapositive 3">
            <a:extLst>
              <a:ext uri="{FF2B5EF4-FFF2-40B4-BE49-F238E27FC236}">
                <a16:creationId xmlns:a16="http://schemas.microsoft.com/office/drawing/2014/main" id="{F7469C12-1B53-4396-B09C-A3DD167AA666}"/>
              </a:ext>
            </a:extLst>
          </p:cNvPr>
          <p:cNvSpPr>
            <a:spLocks noGrp="1"/>
          </p:cNvSpPr>
          <p:nvPr>
            <p:ph type="sldNum" sz="quarter" idx="12"/>
          </p:nvPr>
        </p:nvSpPr>
        <p:spPr/>
        <p:txBody>
          <a:bodyPr/>
          <a:lstStyle/>
          <a:p>
            <a:fld id="{B6CC0D5F-9096-46B0-8727-60E08472EB90}" type="slidenum">
              <a:rPr lang="fr-SN" smtClean="0"/>
              <a:t>4</a:t>
            </a:fld>
            <a:endParaRPr lang="fr-SN"/>
          </a:p>
        </p:txBody>
      </p:sp>
    </p:spTree>
    <p:extLst>
      <p:ext uri="{BB962C8B-B14F-4D97-AF65-F5344CB8AC3E}">
        <p14:creationId xmlns:p14="http://schemas.microsoft.com/office/powerpoint/2010/main" val="2519950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E9FEA6D-33E1-401C-950F-1E868BD59620}"/>
              </a:ext>
            </a:extLst>
          </p:cNvPr>
          <p:cNvSpPr>
            <a:spLocks noGrp="1"/>
          </p:cNvSpPr>
          <p:nvPr>
            <p:ph idx="1"/>
          </p:nvPr>
        </p:nvSpPr>
        <p:spPr>
          <a:xfrm>
            <a:off x="838200" y="1206631"/>
            <a:ext cx="10515600" cy="4194928"/>
          </a:xfrm>
        </p:spPr>
        <p:txBody>
          <a:bodyPr/>
          <a:lstStyle/>
          <a:p>
            <a:pPr marL="0" indent="0">
              <a:buNone/>
            </a:pPr>
            <a:r>
              <a:rPr lang="fr-FR" dirty="0"/>
              <a:t>C = K × M mod 26  Où :</a:t>
            </a:r>
          </a:p>
          <a:p>
            <a:pPr marL="0" indent="0">
              <a:buNone/>
            </a:pPr>
            <a:r>
              <a:rPr lang="fr-FR" dirty="0"/>
              <a:t>    C = texte chiffré</a:t>
            </a:r>
          </a:p>
          <a:p>
            <a:pPr marL="0" indent="0">
              <a:buNone/>
            </a:pPr>
            <a:r>
              <a:rPr lang="fr-FR" dirty="0"/>
              <a:t>    K = matrice clé</a:t>
            </a:r>
          </a:p>
          <a:p>
            <a:pPr marL="0" indent="0">
              <a:buNone/>
            </a:pPr>
            <a:r>
              <a:rPr lang="fr-FR" dirty="0"/>
              <a:t>    M = vecteur du message</a:t>
            </a:r>
          </a:p>
          <a:p>
            <a:pPr marL="0" indent="0">
              <a:buNone/>
            </a:pPr>
            <a:r>
              <a:rPr lang="fr-FR" u="sng" dirty="0"/>
              <a:t>Un exemple :</a:t>
            </a:r>
          </a:p>
          <a:p>
            <a:pPr marL="0" indent="0">
              <a:buNone/>
            </a:pPr>
            <a:r>
              <a:rPr lang="fr-FR" dirty="0"/>
              <a:t>Chiffrons le message BONJOURSCLASSE avec une matrice clé de taille 2 × 2 tel que :</a:t>
            </a:r>
          </a:p>
          <a:p>
            <a:pPr marL="0" indent="0">
              <a:buNone/>
            </a:pPr>
            <a:r>
              <a:rPr lang="fr-FR" dirty="0"/>
              <a:t>M = 3,3,2,5</a:t>
            </a:r>
            <a:endParaRPr lang="fr-SN" dirty="0"/>
          </a:p>
        </p:txBody>
      </p:sp>
      <p:sp>
        <p:nvSpPr>
          <p:cNvPr id="4" name="Espace réservé du numéro de diapositive 3">
            <a:extLst>
              <a:ext uri="{FF2B5EF4-FFF2-40B4-BE49-F238E27FC236}">
                <a16:creationId xmlns:a16="http://schemas.microsoft.com/office/drawing/2014/main" id="{0234EBB9-A230-477C-BD4D-5FA02AA3FD44}"/>
              </a:ext>
            </a:extLst>
          </p:cNvPr>
          <p:cNvSpPr>
            <a:spLocks noGrp="1"/>
          </p:cNvSpPr>
          <p:nvPr>
            <p:ph type="sldNum" sz="quarter" idx="12"/>
          </p:nvPr>
        </p:nvSpPr>
        <p:spPr/>
        <p:txBody>
          <a:bodyPr/>
          <a:lstStyle/>
          <a:p>
            <a:fld id="{B6CC0D5F-9096-46B0-8727-60E08472EB90}" type="slidenum">
              <a:rPr lang="fr-SN" smtClean="0"/>
              <a:t>5</a:t>
            </a:fld>
            <a:endParaRPr lang="fr-SN"/>
          </a:p>
        </p:txBody>
      </p:sp>
    </p:spTree>
    <p:extLst>
      <p:ext uri="{BB962C8B-B14F-4D97-AF65-F5344CB8AC3E}">
        <p14:creationId xmlns:p14="http://schemas.microsoft.com/office/powerpoint/2010/main" val="3136861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096C86-2B7B-450C-BE80-9D412D920064}"/>
              </a:ext>
            </a:extLst>
          </p:cNvPr>
          <p:cNvSpPr>
            <a:spLocks noGrp="1"/>
          </p:cNvSpPr>
          <p:nvPr>
            <p:ph type="title"/>
          </p:nvPr>
        </p:nvSpPr>
        <p:spPr/>
        <p:txBody>
          <a:bodyPr/>
          <a:lstStyle/>
          <a:p>
            <a:endParaRPr lang="fr-SN" dirty="0"/>
          </a:p>
        </p:txBody>
      </p:sp>
      <p:pic>
        <p:nvPicPr>
          <p:cNvPr id="5" name="Espace réservé du contenu 4">
            <a:extLst>
              <a:ext uri="{FF2B5EF4-FFF2-40B4-BE49-F238E27FC236}">
                <a16:creationId xmlns:a16="http://schemas.microsoft.com/office/drawing/2014/main" id="{282A9F7A-776D-4901-B76D-9210820091EF}"/>
              </a:ext>
            </a:extLst>
          </p:cNvPr>
          <p:cNvPicPr>
            <a:picLocks noGrp="1" noChangeAspect="1"/>
          </p:cNvPicPr>
          <p:nvPr>
            <p:ph idx="1"/>
          </p:nvPr>
        </p:nvPicPr>
        <p:blipFill>
          <a:blip r:embed="rId2"/>
          <a:stretch>
            <a:fillRect/>
          </a:stretch>
        </p:blipFill>
        <p:spPr>
          <a:xfrm>
            <a:off x="838200" y="250028"/>
            <a:ext cx="10945304" cy="4541194"/>
          </a:xfrm>
          <a:prstGeom prst="rect">
            <a:avLst/>
          </a:prstGeom>
        </p:spPr>
      </p:pic>
      <p:sp>
        <p:nvSpPr>
          <p:cNvPr id="4" name="Espace réservé du numéro de diapositive 3">
            <a:extLst>
              <a:ext uri="{FF2B5EF4-FFF2-40B4-BE49-F238E27FC236}">
                <a16:creationId xmlns:a16="http://schemas.microsoft.com/office/drawing/2014/main" id="{733DEAE0-B356-4970-A55F-8ADC69D2DDA7}"/>
              </a:ext>
            </a:extLst>
          </p:cNvPr>
          <p:cNvSpPr>
            <a:spLocks noGrp="1"/>
          </p:cNvSpPr>
          <p:nvPr>
            <p:ph type="sldNum" sz="quarter" idx="12"/>
          </p:nvPr>
        </p:nvSpPr>
        <p:spPr/>
        <p:txBody>
          <a:bodyPr/>
          <a:lstStyle/>
          <a:p>
            <a:fld id="{B6CC0D5F-9096-46B0-8727-60E08472EB90}" type="slidenum">
              <a:rPr lang="fr-SN" smtClean="0"/>
              <a:t>6</a:t>
            </a:fld>
            <a:endParaRPr lang="fr-SN"/>
          </a:p>
        </p:txBody>
      </p:sp>
      <p:sp>
        <p:nvSpPr>
          <p:cNvPr id="6" name="Rectangle 5">
            <a:extLst>
              <a:ext uri="{FF2B5EF4-FFF2-40B4-BE49-F238E27FC236}">
                <a16:creationId xmlns:a16="http://schemas.microsoft.com/office/drawing/2014/main" id="{C8520F59-5987-4408-91AC-D627C38FDCBB}"/>
              </a:ext>
            </a:extLst>
          </p:cNvPr>
          <p:cNvSpPr/>
          <p:nvPr/>
        </p:nvSpPr>
        <p:spPr>
          <a:xfrm>
            <a:off x="917541" y="5389120"/>
            <a:ext cx="7415753" cy="369332"/>
          </a:xfrm>
          <a:prstGeom prst="rect">
            <a:avLst/>
          </a:prstGeom>
        </p:spPr>
        <p:txBody>
          <a:bodyPr wrap="square">
            <a:spAutoFit/>
          </a:bodyPr>
          <a:lstStyle/>
          <a:p>
            <a:r>
              <a:rPr lang="fr-FR" dirty="0"/>
              <a:t>Donc le texte chiffré de  BONJOURSCLASSE est TUOTYYBUNHCMOE  </a:t>
            </a:r>
            <a:endParaRPr lang="fr-SN" dirty="0"/>
          </a:p>
        </p:txBody>
      </p:sp>
    </p:spTree>
    <p:extLst>
      <p:ext uri="{BB962C8B-B14F-4D97-AF65-F5344CB8AC3E}">
        <p14:creationId xmlns:p14="http://schemas.microsoft.com/office/powerpoint/2010/main" val="2408023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E561A7-42D2-4D1A-A7E2-C4D9D62E711E}"/>
              </a:ext>
            </a:extLst>
          </p:cNvPr>
          <p:cNvSpPr>
            <a:spLocks noGrp="1"/>
          </p:cNvSpPr>
          <p:nvPr>
            <p:ph type="title"/>
          </p:nvPr>
        </p:nvSpPr>
        <p:spPr/>
        <p:txBody>
          <a:bodyPr/>
          <a:lstStyle/>
          <a:p>
            <a:r>
              <a:rPr lang="fr-SN" b="1" dirty="0">
                <a:solidFill>
                  <a:schemeClr val="accent1"/>
                </a:solidFill>
              </a:rPr>
              <a:t>3. Déchiffrement</a:t>
            </a:r>
          </a:p>
        </p:txBody>
      </p:sp>
      <p:sp>
        <p:nvSpPr>
          <p:cNvPr id="3" name="Espace réservé du contenu 2">
            <a:extLst>
              <a:ext uri="{FF2B5EF4-FFF2-40B4-BE49-F238E27FC236}">
                <a16:creationId xmlns:a16="http://schemas.microsoft.com/office/drawing/2014/main" id="{EF0D6CFE-F2D6-4AB6-AEDA-82F667FCD1A1}"/>
              </a:ext>
            </a:extLst>
          </p:cNvPr>
          <p:cNvSpPr>
            <a:spLocks noGrp="1"/>
          </p:cNvSpPr>
          <p:nvPr>
            <p:ph idx="1"/>
          </p:nvPr>
        </p:nvSpPr>
        <p:spPr>
          <a:xfrm>
            <a:off x="838200" y="1498862"/>
            <a:ext cx="10515600" cy="4678101"/>
          </a:xfrm>
        </p:spPr>
        <p:txBody>
          <a:bodyPr/>
          <a:lstStyle/>
          <a:p>
            <a:r>
              <a:rPr lang="fr-SN" dirty="0"/>
              <a:t>Pour déchiffrer, on utilise l’</a:t>
            </a:r>
            <a:r>
              <a:rPr lang="fr-SN" b="1" dirty="0"/>
              <a:t>inverse de la matrice K modulo 26</a:t>
            </a:r>
            <a:r>
              <a:rPr lang="fr-SN" dirty="0"/>
              <a:t> :</a:t>
            </a:r>
          </a:p>
          <a:p>
            <a:pPr marL="0" indent="0">
              <a:buNone/>
            </a:pPr>
            <a:r>
              <a:rPr lang="fr-FR" dirty="0"/>
              <a:t>  </a:t>
            </a:r>
            <a:endParaRPr lang="fr-SN" dirty="0"/>
          </a:p>
        </p:txBody>
      </p:sp>
      <p:sp>
        <p:nvSpPr>
          <p:cNvPr id="4" name="Espace réservé du numéro de diapositive 3">
            <a:extLst>
              <a:ext uri="{FF2B5EF4-FFF2-40B4-BE49-F238E27FC236}">
                <a16:creationId xmlns:a16="http://schemas.microsoft.com/office/drawing/2014/main" id="{BCB21D10-B3A2-4B63-838C-2E5D297A71C2}"/>
              </a:ext>
            </a:extLst>
          </p:cNvPr>
          <p:cNvSpPr>
            <a:spLocks noGrp="1"/>
          </p:cNvSpPr>
          <p:nvPr>
            <p:ph type="sldNum" sz="quarter" idx="12"/>
          </p:nvPr>
        </p:nvSpPr>
        <p:spPr/>
        <p:txBody>
          <a:bodyPr/>
          <a:lstStyle/>
          <a:p>
            <a:fld id="{B6CC0D5F-9096-46B0-8727-60E08472EB90}" type="slidenum">
              <a:rPr lang="fr-SN" smtClean="0"/>
              <a:t>7</a:t>
            </a:fld>
            <a:endParaRPr lang="fr-SN"/>
          </a:p>
        </p:txBody>
      </p:sp>
      <p:pic>
        <p:nvPicPr>
          <p:cNvPr id="5" name="Image 4">
            <a:extLst>
              <a:ext uri="{FF2B5EF4-FFF2-40B4-BE49-F238E27FC236}">
                <a16:creationId xmlns:a16="http://schemas.microsoft.com/office/drawing/2014/main" id="{AC4D0370-666B-45F1-90B6-F5299AE02C26}"/>
              </a:ext>
            </a:extLst>
          </p:cNvPr>
          <p:cNvPicPr>
            <a:picLocks noChangeAspect="1"/>
          </p:cNvPicPr>
          <p:nvPr/>
        </p:nvPicPr>
        <p:blipFill>
          <a:blip r:embed="rId2"/>
          <a:stretch>
            <a:fillRect/>
          </a:stretch>
        </p:blipFill>
        <p:spPr>
          <a:xfrm>
            <a:off x="0" y="2076745"/>
            <a:ext cx="12084671" cy="3714161"/>
          </a:xfrm>
          <a:prstGeom prst="rect">
            <a:avLst/>
          </a:prstGeom>
        </p:spPr>
      </p:pic>
      <p:sp>
        <p:nvSpPr>
          <p:cNvPr id="6" name="Rectangle 5">
            <a:extLst>
              <a:ext uri="{FF2B5EF4-FFF2-40B4-BE49-F238E27FC236}">
                <a16:creationId xmlns:a16="http://schemas.microsoft.com/office/drawing/2014/main" id="{02BB772C-F2CB-4139-A7BD-244AAF98A1FC}"/>
              </a:ext>
            </a:extLst>
          </p:cNvPr>
          <p:cNvSpPr/>
          <p:nvPr/>
        </p:nvSpPr>
        <p:spPr>
          <a:xfrm>
            <a:off x="634737" y="5892581"/>
            <a:ext cx="7604289" cy="369332"/>
          </a:xfrm>
          <a:prstGeom prst="rect">
            <a:avLst/>
          </a:prstGeom>
        </p:spPr>
        <p:txBody>
          <a:bodyPr wrap="square">
            <a:spAutoFit/>
          </a:bodyPr>
          <a:lstStyle/>
          <a:p>
            <a:r>
              <a:rPr lang="fr-FR" dirty="0"/>
              <a:t>Donc le texte déchiffré de TUOTYYBUNHCMOE est  BONJOURSCLASSE </a:t>
            </a:r>
            <a:endParaRPr lang="fr-SN" dirty="0"/>
          </a:p>
        </p:txBody>
      </p:sp>
    </p:spTree>
    <p:extLst>
      <p:ext uri="{BB962C8B-B14F-4D97-AF65-F5344CB8AC3E}">
        <p14:creationId xmlns:p14="http://schemas.microsoft.com/office/powerpoint/2010/main" val="299856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EE737C-53C2-4873-994C-9C1289EB7534}"/>
              </a:ext>
            </a:extLst>
          </p:cNvPr>
          <p:cNvSpPr>
            <a:spLocks noGrp="1"/>
          </p:cNvSpPr>
          <p:nvPr>
            <p:ph type="title"/>
          </p:nvPr>
        </p:nvSpPr>
        <p:spPr/>
        <p:txBody>
          <a:bodyPr/>
          <a:lstStyle/>
          <a:p>
            <a:r>
              <a:rPr lang="fr-SN" b="1" dirty="0">
                <a:solidFill>
                  <a:schemeClr val="accent1"/>
                </a:solidFill>
              </a:rPr>
              <a:t>4. Avantages et inconvénients</a:t>
            </a:r>
          </a:p>
        </p:txBody>
      </p:sp>
      <p:sp>
        <p:nvSpPr>
          <p:cNvPr id="3" name="Espace réservé du contenu 2">
            <a:extLst>
              <a:ext uri="{FF2B5EF4-FFF2-40B4-BE49-F238E27FC236}">
                <a16:creationId xmlns:a16="http://schemas.microsoft.com/office/drawing/2014/main" id="{BBC0F459-B6EF-49D0-9654-C12C78DD80B1}"/>
              </a:ext>
            </a:extLst>
          </p:cNvPr>
          <p:cNvSpPr>
            <a:spLocks noGrp="1"/>
          </p:cNvSpPr>
          <p:nvPr>
            <p:ph idx="1"/>
          </p:nvPr>
        </p:nvSpPr>
        <p:spPr/>
        <p:txBody>
          <a:bodyPr/>
          <a:lstStyle/>
          <a:p>
            <a:pPr marL="0" indent="0">
              <a:buNone/>
            </a:pPr>
            <a:r>
              <a:rPr lang="fr-FR" b="1" dirty="0">
                <a:solidFill>
                  <a:schemeClr val="accent6"/>
                </a:solidFill>
              </a:rPr>
              <a:t>✅ Avantages :</a:t>
            </a:r>
          </a:p>
          <a:p>
            <a:r>
              <a:rPr lang="fr-FR" dirty="0"/>
              <a:t>Plus sécurisé que César ou Vigenère.</a:t>
            </a:r>
          </a:p>
          <a:p>
            <a:r>
              <a:rPr lang="fr-FR" dirty="0"/>
              <a:t>Repose sur des concepts mathématiques solides (matrices, inverses, modulo).</a:t>
            </a:r>
          </a:p>
          <a:p>
            <a:pPr marL="0" indent="0">
              <a:buNone/>
            </a:pPr>
            <a:r>
              <a:rPr lang="fr-FR" b="1" dirty="0">
                <a:solidFill>
                  <a:srgbClr val="FF0000"/>
                </a:solidFill>
              </a:rPr>
              <a:t>❌ Inconvénients :</a:t>
            </a:r>
          </a:p>
          <a:p>
            <a:r>
              <a:rPr lang="fr-FR" dirty="0"/>
              <a:t>Fragile face à l’analyse fréquentielle si beaucoup de texte est intercepté.</a:t>
            </a:r>
          </a:p>
          <a:p>
            <a:r>
              <a:rPr lang="fr-FR" dirty="0"/>
              <a:t>Complexité du calcul matriciel (surtout pour les inverses modulo).</a:t>
            </a:r>
          </a:p>
          <a:p>
            <a:r>
              <a:rPr lang="fr-FR" dirty="0"/>
              <a:t>Nécessite que la matrice soit bien choisie (non singulière modulo 26).</a:t>
            </a:r>
          </a:p>
          <a:p>
            <a:pPr marL="0" indent="0">
              <a:buNone/>
            </a:pPr>
            <a:endParaRPr lang="fr-SN" dirty="0"/>
          </a:p>
        </p:txBody>
      </p:sp>
      <p:sp>
        <p:nvSpPr>
          <p:cNvPr id="4" name="Espace réservé du numéro de diapositive 3">
            <a:extLst>
              <a:ext uri="{FF2B5EF4-FFF2-40B4-BE49-F238E27FC236}">
                <a16:creationId xmlns:a16="http://schemas.microsoft.com/office/drawing/2014/main" id="{C9B00D0D-BE6E-4DE6-9E4E-EF0AC1D6BDC5}"/>
              </a:ext>
            </a:extLst>
          </p:cNvPr>
          <p:cNvSpPr>
            <a:spLocks noGrp="1"/>
          </p:cNvSpPr>
          <p:nvPr>
            <p:ph type="sldNum" sz="quarter" idx="12"/>
          </p:nvPr>
        </p:nvSpPr>
        <p:spPr/>
        <p:txBody>
          <a:bodyPr/>
          <a:lstStyle/>
          <a:p>
            <a:fld id="{B6CC0D5F-9096-46B0-8727-60E08472EB90}" type="slidenum">
              <a:rPr lang="fr-SN" smtClean="0"/>
              <a:t>8</a:t>
            </a:fld>
            <a:endParaRPr lang="fr-SN"/>
          </a:p>
        </p:txBody>
      </p:sp>
    </p:spTree>
    <p:extLst>
      <p:ext uri="{BB962C8B-B14F-4D97-AF65-F5344CB8AC3E}">
        <p14:creationId xmlns:p14="http://schemas.microsoft.com/office/powerpoint/2010/main" val="167079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871E89-6581-420E-81B2-E8DB4EC2567D}"/>
              </a:ext>
            </a:extLst>
          </p:cNvPr>
          <p:cNvSpPr>
            <a:spLocks noGrp="1"/>
          </p:cNvSpPr>
          <p:nvPr>
            <p:ph type="title"/>
          </p:nvPr>
        </p:nvSpPr>
        <p:spPr/>
        <p:txBody>
          <a:bodyPr/>
          <a:lstStyle/>
          <a:p>
            <a:r>
              <a:rPr lang="fr-SN" b="1" dirty="0">
                <a:solidFill>
                  <a:schemeClr val="accent1"/>
                </a:solidFill>
              </a:rPr>
              <a:t>5. Applications et histoire</a:t>
            </a:r>
          </a:p>
        </p:txBody>
      </p:sp>
      <p:sp>
        <p:nvSpPr>
          <p:cNvPr id="3" name="Espace réservé du contenu 2">
            <a:extLst>
              <a:ext uri="{FF2B5EF4-FFF2-40B4-BE49-F238E27FC236}">
                <a16:creationId xmlns:a16="http://schemas.microsoft.com/office/drawing/2014/main" id="{4549F285-07ED-41F1-9680-E48A3EA3A877}"/>
              </a:ext>
            </a:extLst>
          </p:cNvPr>
          <p:cNvSpPr>
            <a:spLocks noGrp="1"/>
          </p:cNvSpPr>
          <p:nvPr>
            <p:ph idx="1"/>
          </p:nvPr>
        </p:nvSpPr>
        <p:spPr>
          <a:xfrm>
            <a:off x="838200" y="1825625"/>
            <a:ext cx="10087466" cy="3679629"/>
          </a:xfrm>
        </p:spPr>
        <p:txBody>
          <a:bodyPr/>
          <a:lstStyle/>
          <a:p>
            <a:pPr>
              <a:buFont typeface="Wingdings" panose="05000000000000000000" pitchFamily="2" charset="2"/>
              <a:buChar char="v"/>
            </a:pPr>
            <a:r>
              <a:rPr lang="fr-FR" dirty="0"/>
              <a:t>Le chiffrement de Hill a surtout un </a:t>
            </a:r>
            <a:r>
              <a:rPr lang="fr-FR" b="1" dirty="0"/>
              <a:t>intérêt pédagogique</a:t>
            </a:r>
            <a:r>
              <a:rPr lang="fr-FR" dirty="0"/>
              <a:t> aujourd’hui.</a:t>
            </a:r>
          </a:p>
          <a:p>
            <a:pPr>
              <a:buFont typeface="Wingdings" panose="05000000000000000000" pitchFamily="2" charset="2"/>
              <a:buChar char="v"/>
            </a:pPr>
            <a:r>
              <a:rPr lang="fr-FR" dirty="0"/>
              <a:t>Il montre comment l’</a:t>
            </a:r>
            <a:r>
              <a:rPr lang="fr-FR" b="1" dirty="0"/>
              <a:t>algèbre linéaire</a:t>
            </a:r>
            <a:r>
              <a:rPr lang="fr-FR" dirty="0"/>
              <a:t> peut s’appliquer à la </a:t>
            </a:r>
            <a:r>
              <a:rPr lang="fr-FR" b="1" dirty="0"/>
              <a:t>cryptographie</a:t>
            </a:r>
            <a:r>
              <a:rPr lang="fr-FR" dirty="0"/>
              <a:t>.</a:t>
            </a:r>
          </a:p>
          <a:p>
            <a:pPr>
              <a:buFont typeface="Wingdings" panose="05000000000000000000" pitchFamily="2" charset="2"/>
              <a:buChar char="v"/>
            </a:pPr>
            <a:r>
              <a:rPr lang="fr-FR" dirty="0"/>
              <a:t>Utilisé dans certains systèmes éducatifs pour introduire le chiffrement par bloc.</a:t>
            </a:r>
          </a:p>
          <a:p>
            <a:pPr marL="0" indent="0">
              <a:buNone/>
            </a:pPr>
            <a:endParaRPr lang="fr-SN" dirty="0"/>
          </a:p>
        </p:txBody>
      </p:sp>
      <p:sp>
        <p:nvSpPr>
          <p:cNvPr id="4" name="Espace réservé du numéro de diapositive 3">
            <a:extLst>
              <a:ext uri="{FF2B5EF4-FFF2-40B4-BE49-F238E27FC236}">
                <a16:creationId xmlns:a16="http://schemas.microsoft.com/office/drawing/2014/main" id="{8E2FE53C-51BE-4F43-A0BF-F701980E2777}"/>
              </a:ext>
            </a:extLst>
          </p:cNvPr>
          <p:cNvSpPr>
            <a:spLocks noGrp="1"/>
          </p:cNvSpPr>
          <p:nvPr>
            <p:ph type="sldNum" sz="quarter" idx="12"/>
          </p:nvPr>
        </p:nvSpPr>
        <p:spPr/>
        <p:txBody>
          <a:bodyPr/>
          <a:lstStyle/>
          <a:p>
            <a:fld id="{B6CC0D5F-9096-46B0-8727-60E08472EB90}" type="slidenum">
              <a:rPr lang="fr-SN" smtClean="0"/>
              <a:t>9</a:t>
            </a:fld>
            <a:endParaRPr lang="fr-SN"/>
          </a:p>
        </p:txBody>
      </p:sp>
    </p:spTree>
    <p:extLst>
      <p:ext uri="{BB962C8B-B14F-4D97-AF65-F5344CB8AC3E}">
        <p14:creationId xmlns:p14="http://schemas.microsoft.com/office/powerpoint/2010/main" val="2400022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E88D5-1CDA-4EAF-823E-2A116C88A9D3}"/>
              </a:ext>
            </a:extLst>
          </p:cNvPr>
          <p:cNvSpPr>
            <a:spLocks noGrp="1"/>
          </p:cNvSpPr>
          <p:nvPr>
            <p:ph type="title"/>
          </p:nvPr>
        </p:nvSpPr>
        <p:spPr/>
        <p:txBody>
          <a:bodyPr/>
          <a:lstStyle/>
          <a:p>
            <a:r>
              <a:rPr lang="fr-SN" b="1" dirty="0">
                <a:solidFill>
                  <a:schemeClr val="accent1"/>
                </a:solidFill>
              </a:rPr>
              <a:t>6. Conclusion</a:t>
            </a:r>
          </a:p>
        </p:txBody>
      </p:sp>
      <p:sp>
        <p:nvSpPr>
          <p:cNvPr id="3" name="Espace réservé du contenu 2">
            <a:extLst>
              <a:ext uri="{FF2B5EF4-FFF2-40B4-BE49-F238E27FC236}">
                <a16:creationId xmlns:a16="http://schemas.microsoft.com/office/drawing/2014/main" id="{F248B7CF-E382-4648-B697-8A25026283FC}"/>
              </a:ext>
            </a:extLst>
          </p:cNvPr>
          <p:cNvSpPr>
            <a:spLocks noGrp="1"/>
          </p:cNvSpPr>
          <p:nvPr>
            <p:ph idx="1"/>
          </p:nvPr>
        </p:nvSpPr>
        <p:spPr>
          <a:xfrm>
            <a:off x="838200" y="2476074"/>
            <a:ext cx="10515600" cy="1690573"/>
          </a:xfrm>
        </p:spPr>
        <p:txBody>
          <a:bodyPr/>
          <a:lstStyle/>
          <a:p>
            <a:pPr marL="0" indent="0">
              <a:buNone/>
            </a:pPr>
            <a:r>
              <a:rPr lang="fr-FR" dirty="0"/>
              <a:t>Le chiffrement de Hill est un exemple classique de cryptographie symétrique fondée sur l'algèbre. Bien qu’il ne soit plus utilisé en pratique, il reste un excellent outil pour apprendre les bases de la cryptographie mathématique.</a:t>
            </a:r>
            <a:endParaRPr lang="fr-SN" dirty="0"/>
          </a:p>
        </p:txBody>
      </p:sp>
      <p:sp>
        <p:nvSpPr>
          <p:cNvPr id="4" name="Espace réservé du numéro de diapositive 3">
            <a:extLst>
              <a:ext uri="{FF2B5EF4-FFF2-40B4-BE49-F238E27FC236}">
                <a16:creationId xmlns:a16="http://schemas.microsoft.com/office/drawing/2014/main" id="{6984C3F8-2B28-4192-AC65-F63EC381E2EF}"/>
              </a:ext>
            </a:extLst>
          </p:cNvPr>
          <p:cNvSpPr>
            <a:spLocks noGrp="1"/>
          </p:cNvSpPr>
          <p:nvPr>
            <p:ph type="sldNum" sz="quarter" idx="12"/>
          </p:nvPr>
        </p:nvSpPr>
        <p:spPr/>
        <p:txBody>
          <a:bodyPr/>
          <a:lstStyle/>
          <a:p>
            <a:fld id="{B6CC0D5F-9096-46B0-8727-60E08472EB90}" type="slidenum">
              <a:rPr lang="fr-SN" smtClean="0"/>
              <a:t>10</a:t>
            </a:fld>
            <a:endParaRPr lang="fr-SN"/>
          </a:p>
        </p:txBody>
      </p:sp>
    </p:spTree>
    <p:extLst>
      <p:ext uri="{BB962C8B-B14F-4D97-AF65-F5344CB8AC3E}">
        <p14:creationId xmlns:p14="http://schemas.microsoft.com/office/powerpoint/2010/main" val="313848378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413</Words>
  <Application>Microsoft Office PowerPoint</Application>
  <PresentationFormat>Grand écran</PresentationFormat>
  <Paragraphs>59</Paragraphs>
  <Slides>10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vt:i4>
      </vt:variant>
    </vt:vector>
  </HeadingPairs>
  <TitlesOfParts>
    <vt:vector size="15" baseType="lpstr">
      <vt:lpstr>Arial</vt:lpstr>
      <vt:lpstr>Calibri</vt:lpstr>
      <vt:lpstr>Calibri Light</vt:lpstr>
      <vt:lpstr>Wingdings</vt:lpstr>
      <vt:lpstr>Thème Office</vt:lpstr>
      <vt:lpstr>   </vt:lpstr>
      <vt:lpstr>Présentation PowerPoint</vt:lpstr>
      <vt:lpstr>  1. Introduction</vt:lpstr>
      <vt:lpstr>2. Principe du chiffrement</vt:lpstr>
      <vt:lpstr>Présentation PowerPoint</vt:lpstr>
      <vt:lpstr>Présentation PowerPoint</vt:lpstr>
      <vt:lpstr>3. Déchiffrement</vt:lpstr>
      <vt:lpstr>4. Avantages et inconvénients</vt:lpstr>
      <vt:lpstr>5. Applications et histoire</vt:lpstr>
      <vt:lpstr>6.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NGOUYE GNING</dc:creator>
  <cp:lastModifiedBy>NGOUYE GNING</cp:lastModifiedBy>
  <cp:revision>6</cp:revision>
  <dcterms:created xsi:type="dcterms:W3CDTF">2025-05-24T21:41:10Z</dcterms:created>
  <dcterms:modified xsi:type="dcterms:W3CDTF">2025-05-24T22:25:00Z</dcterms:modified>
</cp:coreProperties>
</file>